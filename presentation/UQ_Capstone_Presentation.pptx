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Uncertainty Quantification for Medical Image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Capstone Project - Rutgers University</a:t>
            </a:r>
            <a:br/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Challenge: Medical AI demands reliable uncertainty estimates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Why? Model confidence doesn't equal correctness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Real-world scenarios: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A model says 92% confident in chest X-ray diagnosis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But what's the actual error rate at that confidence?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How do we know when to trust model predictions?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Solution: Compare Uncertainty Quantification (UQ) methods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Evaluate 4 different UQ approaches on same dataset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Measure accuracy, calibration, and uncertainty quality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Identify best method for medical imaging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Dataset: Chest X-Ray Binary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Source: Kaggle Chest X-Ray Images (Pneumonia)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Split: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Training: 4,172 images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Validation (Calibration): 1,044 images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Test: 624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Task: Binary classification - Normal vs Pneumonia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Model Architecture: ResNet-18 pretrained on ImageNet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Baseline accuracy: 91.67%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Uncertainty Quantification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1. Baseline (No Uncertainty)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Standard ResNet-18 with cross-entropy loss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Provides only point estimate of class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2. MC Dropout (Bayesian Approximation)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Dropout during inference (T=15 samples)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Uncertainty from prediction variance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3. Deep Ensemble (Ensemble Method)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5 independently trained models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Uncertainty from model disagreement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4. SWAG (Stochastic Weight Averaging Gaussian)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Bayesian posterior approximation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30 samples from weight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Results: Accuracy Comparison</a:t>
            </a:r>
          </a:p>
        </p:txBody>
      </p:sp>
      <p:pic>
        <p:nvPicPr>
          <p:cNvPr id="3" name="Picture 2" descr="comprehensive_metrics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4273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Results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FNR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91.67%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0.0498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0.0704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0.0833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 Dropout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85.26%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0.1172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0.1246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0.1474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Deep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91.67%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0.0271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0.0630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0.0833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SWAG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83.17%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0.1519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0.1528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0.1683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MC Dropout: Debugging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Initial Issue: MC Dropout evaluated at 66% accuracy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Expected: ~90% (competitive with baseline)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Problem: Severe evaluation bug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Root Cause Found: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Dropout was enabled ONCE before all samples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Accumulated across T=15 forward passes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Corrupted predictions &amp; destroyed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Solution: Toggle dropout on/off between each sample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model.enable_dropout() → forward() → model.eval()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Result: 66% → 85.26% (FIXED!)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Demonstrates importance of careful evaluation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SWAG: Why Only 83.17%?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Expected: ~91% (competitive with Ensemble)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Actual: 83.17% (underperformer)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Root Cause: Validation Overfitting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Training metrics: 99.62% validation accuracy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But test accuracy: 85.58% (training phase)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Posterior sampling: 83.17% (evaluation)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Why overfitting happened: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Retrained from baseline with same hyperparameters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Snapshot collection epochs 30-50 caught overfit region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Weight distribution skewed toward overfit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Key insight: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Bayesian posterior sampling naturally includes uncertainty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When posterior is concentrated on overfit solution → poor OOD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Winner: Deep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Accuracy: 91.67% (tied with Baseline on test set)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Calibration: ECE = 0.0271 (BEST)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Brier Score: 0.0630 (excellent)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Why Ensemble Dominates: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1. Model Diversity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5 independent initializations capture different perspectives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2. Robust Predictions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Disagreement = epistemic uncertainty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Majority voting = better calibration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3. Simple &amp; Interpretable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No complex weight distributions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Easy to implement in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Trade-off: 5x computational cost at inference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Method Comparison: Pros &amp; 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MC Dropout (85.26%)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Pros: Fast inference, minimal memory, provides uncertainty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Cons: Lower accuracy, weaker calibration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Deep Ensemble (91.67%)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Pros: Best accuracy, best calibration, interpretable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Cons: 5x inference cost, requires 5 model copies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SWAG (83.17%)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Pros: Theoretically sound Bayesian method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Cons: Sensitive to hyperparameters, overfitting issues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Requires careful regularization tuning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Recommendation for Medical Imaging: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Use Ensemble if computational budget allows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Use MC Dropout if speed critical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Conformal Risk Control: Post-hoc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What: Distribution-free confidence guarantees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Goal: Generate prediction sets with specified coverage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Example: 95% confidence set contains true label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Guaranteed even under distribution shift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Methods Implemented: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1. FNR Control (α=0.05, 0.10)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Controls False Negative Rate at calibration level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Critical for medical applications (avoid missed positives)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2. Set Size Control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Minimizes prediction set size while maintaining coverage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3. Composite Loss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Balances coverage and set size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Why Important for Medical AI: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Uncertainty quantified with formal guarantees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Robust to domain shift between hospitals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Context: Segmentation vs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Previous Work: UQ for Chest X-Ray Segmentation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Classification Results (This Project):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Best Method: Deep Ensemble (91.67%)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Runner-up: Baseline (91.67%)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MC Dropout: 85.26%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SWAG: 83.17%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Cross-Task Pattern: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Ensemble consistently strong across both tasks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MC Dropout shows potential but needs tuning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SWAG struggles with regularization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→ Ensemble is go-to for medical imaging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Lesson Learned: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Task-agnostic UQ methods benefit from diversity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Bayesian methods need careful hyperparameter tuning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Key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1. Implementation Details Matter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MC Dropout dropout toggle was critical (66% → 85%)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Careful evaluation protocol essential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2. Overfitting Affects UQ Methods Differently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Bayesian methods concentrate on overfit solution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Ensemble diversity mitigates this problem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3. Calibration ≠ Accuracy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SWAG lower accuracy BUT could calibrate well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ECE (Expected Calibration Error) is different metric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Both matter for reliable medical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4. Conformal Methods Provide Formal Guarantees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Post-hoc calibration without model retraining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Distribution-free guarantees valuable for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Next Steps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Short-term (Project Completion):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Finalize conformal prediction implementation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Generate deployment-ready baseline comparisons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Medium-term (Course Extension):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Improve SWAG with better regularization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Explore adaptive SWAG snapshot collection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Test on out-of-distribution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Research Directions: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Combine Ensemble + Conformal for certified safety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Investigate task-aware UQ methods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Study UQ under realistic distribution shifts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Develop explainability for uncertain predictions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Research Collaboration with Dr. Gemma Moran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Background: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Biomathematics + Data Science: You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Statistical Learning Theory: Dr. Moran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Proposed Collaboration Themes: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1. Adaptive UQ for Medical Imaging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Novel method: Task-aware uncertainty weighting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Combine Bayesian + Ensemble + Conformal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Original contribution (not yet published)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2. UQ under Distribution Shift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Problem: Hospital imaging protocols vary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Solution: Robust UQ guarantees across domains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Application-driven theory paper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Research Idea: Adaptive Bayesian Ensembles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Core Idea: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Not all uncertainty sources equally important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Medical imaging: Epistemic &gt;&gt; Aleatoric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Standard methods treat both the same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Method: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Learn task-specific weights for UQ components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Ensemble variance (epistemic) vs MC Dropout (aleatoric)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Optimize for clinical relevance (calibration + decision-making)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Why Novel: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Combines multiple UQ paradigms adaptively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No published work on this specific combination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Bridges biomathematical modeling + practical 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Your Role: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Mathematical framework + empirical validation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Dr. Moran: Statistical theory + formal guarantees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Alternative Research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Option 2: Conformal Regression for Risk Prediction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Extend conformal methods to severity scoring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Provide prediction intervals with coverage guarantees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Application: Disease progression forecasting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Option 3: UQ Quality Metrics Framework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Formal definition of 'good' uncertainty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Develop diagnostics for UQ methods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Publication: "Uncertainty Quality in Medical AI"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Option 4: Interpretable UQ for Clinicians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Make uncertainty explanations actionable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What features cause model uncertainty?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Collaboration with hospital domain experts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Common Theme: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Practical, not overly theoretical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Medical imaging focus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Publication-ready original contribution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Proposed Timeline &amp;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Phase 1 (Now - December):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Finalize current capstone project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Literature review on adaptive UQ methods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Initial experiments on your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Phase 2 (January - March):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Develop theoretical framework with Dr. Moran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Implement adaptive method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Comprehensive comparison on multiple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Phase 3 (April - May):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Write manuscript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Submit to medical imaging conference (MICCAI, ISBI,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Deliverables: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1-2 first-author conference papers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Open-source implementation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Medical imaging community contribution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Your Unique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Biomathematics Background: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Comfortable with mathematical rigor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Understanding of biological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Data Science Skills: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Practical ML implementation expertise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Familiar with medical datasets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This capstone project is proof of capability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Why This Collaboration Works: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You bring applied perspective to statistical theory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Dr. Moran brings rigor to practical methods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Perfect match for modern ML research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82828"/>
                </a:solidFill>
              </a:defRPr>
            </a:pPr>
            <a:r>
              <a:t>Current Moment: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UQ in medical AI is hot topic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Your work shows genuine research potential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900">
                <a:solidFill>
                  <a:srgbClr val="282828"/>
                </a:solidFill>
              </a:defRPr>
            </a:pPr>
            <a:r>
              <a:t>   Now is the time to expand into publications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Thank you for your attention</a:t>
            </a:r>
            <a:br/>
            <a:r>
              <a:t>Contact: [Your Email]</a:t>
            </a:r>
            <a:br/>
            <a:r>
              <a:t>GitHub: https://github.com/valle1306/uq_capstone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